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188720"/>
            <a:ext cx="121889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00BCD4"/>
                </a:solidFill>
                <a:latin typeface="Consolas"/>
              </a:rPr>
              <a:t>⚡  VISIONPILOT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2423160"/>
            <a:ext cx="121889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E8F4FD"/>
                </a:solidFill>
                <a:latin typeface="Consolas"/>
              </a:rPr>
              <a:t>AI-Assisted RC Car Controller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017520"/>
            <a:ext cx="121889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7BA7CC"/>
                </a:solidFill>
                <a:latin typeface="Consolas"/>
              </a:rPr>
              <a:t>ESP32  ·  L298N  ·  Servo  ·  VL53L0X  ·  MPU-6050  ·  GPS  ·  Flutter APK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52044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00E676"/>
                </a:solidFill>
                <a:latin typeface="Consolas"/>
              </a:rPr>
              <a:t>HackTheHardware 2.0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889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00BCD4"/>
                </a:solidFill>
                <a:latin typeface="Consolas"/>
              </a:rP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02920"/>
            <a:ext cx="12188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7BA7CC"/>
                </a:solidFill>
                <a:latin typeface="Consolas"/>
              </a:rPr>
              <a:t>What VisionPilot does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841248"/>
            <a:ext cx="11274552" cy="0"/>
          </a:xfrm>
          <a:prstGeom prst="line">
            <a:avLst/>
          </a:prstGeom>
          <a:ln w="19050">
            <a:solidFill>
              <a:srgbClr val="00BC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5760" y="10058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8F4FD"/>
                </a:solidFill>
                <a:latin typeface="Consolas"/>
              </a:rPr>
              <a:t>VisionPilot turns a cheap RC car into a wirelessly-controlled robot with real-time sensor feedback, safety interlocks, and a custom Android app — all built from scratch in 48 hours.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920240"/>
            <a:ext cx="5303520" cy="4206240"/>
          </a:xfrm>
          <a:prstGeom prst="rect">
            <a:avLst/>
          </a:prstGeom>
          <a:solidFill>
            <a:srgbClr val="0F2040"/>
          </a:solidFill>
          <a:ln w="12700">
            <a:solidFill>
              <a:srgbClr val="00BCD4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BCD4"/>
                </a:solidFill>
                <a:latin typeface="Consolas"/>
              </a:rPr>
              <a:t>Key Features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E8F4FD"/>
                </a:solidFill>
                <a:latin typeface="Consolas"/>
              </a:rPr>
              <a:t>  • WiFi UDP control at 20 Hz (&lt; 50ms latency)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E8F4FD"/>
                </a:solidFill>
                <a:latin typeface="Consolas"/>
              </a:rPr>
              <a:t>  • Dual-joystick Android app (Flutter APK)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E8F4FD"/>
                </a:solidFill>
                <a:latin typeface="Consolas"/>
              </a:rPr>
              <a:t>  • Servo steering + DC motor speed control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E8F4FD"/>
                </a:solidFill>
                <a:latin typeface="Consolas"/>
              </a:rPr>
              <a:t>  • Hardware watchdog: stops on link drop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E8F4FD"/>
                </a:solidFill>
                <a:latin typeface="Consolas"/>
              </a:rPr>
              <a:t>  • Bumper interlock: locks fwd on collision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E8F4FD"/>
                </a:solidFill>
                <a:latin typeface="Consolas"/>
              </a:rPr>
              <a:t>  • Kill / Clear commands from the phone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E8F4FD"/>
                </a:solidFill>
                <a:latin typeface="Consolas"/>
              </a:rPr>
              <a:t>  • Live battery voltage + car state telemetry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0" y="1920240"/>
            <a:ext cx="5760720" cy="4206240"/>
          </a:xfrm>
          <a:prstGeom prst="rect">
            <a:avLst/>
          </a:prstGeom>
          <a:solidFill>
            <a:srgbClr val="0F2040"/>
          </a:solidFill>
          <a:ln w="12700">
            <a:solidFill>
              <a:srgbClr val="00E676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E676"/>
                </a:solidFill>
                <a:latin typeface="Consolas"/>
              </a:rPr>
              <a:t>Hardware Stack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E8F4FD"/>
                </a:solidFill>
                <a:latin typeface="Consolas"/>
              </a:rPr>
              <a:t>  • ESP32 Dev Board (240 MHz, WiFi)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E8F4FD"/>
                </a:solidFill>
                <a:latin typeface="Consolas"/>
              </a:rPr>
              <a:t>  • L298N H-bridge motor driver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E8F4FD"/>
                </a:solidFill>
                <a:latin typeface="Consolas"/>
              </a:rPr>
              <a:t>  • Hobby servo for steering (GPIO13)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E8F4FD"/>
                </a:solidFill>
                <a:latin typeface="Consolas"/>
              </a:rPr>
              <a:t>  • VL53L0X ToF sensor (obstacle range)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E8F4FD"/>
                </a:solidFill>
                <a:latin typeface="Consolas"/>
              </a:rPr>
              <a:t>  • MPU-6050 IMU (accel + gyro)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E8F4FD"/>
                </a:solidFill>
                <a:latin typeface="Consolas"/>
              </a:rPr>
              <a:t>  • GY-NEO6MU2 GPS module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E8F4FD"/>
                </a:solidFill>
                <a:latin typeface="Consolas"/>
              </a:rPr>
              <a:t>  • 3x RAMPS bumper endstops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E8F4FD"/>
                </a:solidFill>
                <a:latin typeface="Consolas"/>
              </a:rPr>
              <a:t>  • 7.4V LiPo + 5V buck converter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E8F4FD"/>
                </a:solidFill>
                <a:latin typeface="Consolas"/>
              </a:rPr>
              <a:t>  • Samsung S24 running Flutter APK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889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00BCD4"/>
                </a:solidFill>
                <a:latin typeface="Consolas"/>
              </a:rP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02920"/>
            <a:ext cx="12188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7BA7CC"/>
                </a:solidFill>
                <a:latin typeface="Consolas"/>
              </a:rPr>
              <a:t>Communication and control flow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841248"/>
            <a:ext cx="11274552" cy="0"/>
          </a:xfrm>
          <a:prstGeom prst="line">
            <a:avLst/>
          </a:prstGeom>
          <a:ln w="19050">
            <a:solidFill>
              <a:srgbClr val="00BC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371600"/>
            <a:ext cx="2377440" cy="1188720"/>
          </a:xfrm>
          <a:prstGeom prst="rect">
            <a:avLst/>
          </a:prstGeom>
          <a:solidFill>
            <a:srgbClr val="0F2040"/>
          </a:solidFill>
          <a:ln w="25400">
            <a:solidFill>
              <a:srgbClr val="00BCD4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BCD4"/>
                </a:solidFill>
                <a:latin typeface="Consolas"/>
              </a:rPr>
              <a:t>ANDROID APP</a:t>
            </a:r>
          </a:p>
          <a:p>
            <a:pPr algn="ctr"/>
            <a:r>
              <a:rPr sz="1300" b="0">
                <a:solidFill>
                  <a:srgbClr val="E8F4FD"/>
                </a:solidFill>
                <a:latin typeface="Consolas"/>
              </a:rPr>
              <a:t>(Flutter)</a:t>
            </a:r>
          </a:p>
          <a:p>
            <a:pPr algn="ctr"/>
            <a:r>
              <a:rPr sz="1300" b="0">
                <a:solidFill>
                  <a:srgbClr val="E8F4FD"/>
                </a:solidFill>
                <a:latin typeface="Consolas"/>
              </a:rPr>
              <a:t>Dual Joystick UI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371600"/>
            <a:ext cx="2834640" cy="1188720"/>
          </a:xfrm>
          <a:prstGeom prst="rect">
            <a:avLst/>
          </a:prstGeom>
          <a:solidFill>
            <a:srgbClr val="0F2040"/>
          </a:solidFill>
          <a:ln w="25400">
            <a:solidFill>
              <a:srgbClr val="00E676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E676"/>
                </a:solidFill>
                <a:latin typeface="Consolas"/>
              </a:rPr>
              <a:t>ESP32 FIRMWARE</a:t>
            </a:r>
          </a:p>
          <a:p>
            <a:pPr algn="ctr"/>
            <a:r>
              <a:rPr sz="1300" b="0">
                <a:solidFill>
                  <a:srgbClr val="E8F4FD"/>
                </a:solidFill>
                <a:latin typeface="Consolas"/>
              </a:rPr>
              <a:t>(Arduino)</a:t>
            </a:r>
          </a:p>
          <a:p>
            <a:pPr algn="ctr"/>
            <a:r>
              <a:rPr sz="1300" b="0">
                <a:solidFill>
                  <a:srgbClr val="E8F4FD"/>
                </a:solidFill>
                <a:latin typeface="Consolas"/>
              </a:rPr>
              <a:t>UDP + State Machine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0" y="1371600"/>
            <a:ext cx="2560320" cy="1188720"/>
          </a:xfrm>
          <a:prstGeom prst="rect">
            <a:avLst/>
          </a:prstGeom>
          <a:solidFill>
            <a:srgbClr val="0F2040"/>
          </a:solidFill>
          <a:ln w="25400">
            <a:solidFill>
              <a:srgbClr val="FFD74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D740"/>
                </a:solidFill>
                <a:latin typeface="Consolas"/>
              </a:rPr>
              <a:t>ACTUATORS</a:t>
            </a:r>
          </a:p>
          <a:p>
            <a:pPr algn="ctr"/>
            <a:r>
              <a:rPr sz="1300" b="0">
                <a:solidFill>
                  <a:srgbClr val="E8F4FD"/>
                </a:solidFill>
                <a:latin typeface="Consolas"/>
              </a:rPr>
              <a:t>DC Motor (L298N)</a:t>
            </a:r>
          </a:p>
          <a:p>
            <a:pPr algn="ctr"/>
            <a:r>
              <a:rPr sz="1300" b="0">
                <a:solidFill>
                  <a:srgbClr val="E8F4FD"/>
                </a:solidFill>
                <a:latin typeface="Consolas"/>
              </a:rPr>
              <a:t>Servo Steering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3566160"/>
            <a:ext cx="2834640" cy="1188720"/>
          </a:xfrm>
          <a:prstGeom prst="rect">
            <a:avLst/>
          </a:prstGeom>
          <a:solidFill>
            <a:srgbClr val="0F2040"/>
          </a:solidFill>
          <a:ln w="25400">
            <a:solidFill>
              <a:srgbClr val="CE93D8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CE93D8"/>
                </a:solidFill>
                <a:latin typeface="Consolas"/>
              </a:rPr>
              <a:t>SENSORS</a:t>
            </a:r>
          </a:p>
          <a:p>
            <a:pPr algn="ctr"/>
            <a:r>
              <a:rPr sz="1300" b="0">
                <a:solidFill>
                  <a:srgbClr val="E8F4FD"/>
                </a:solidFill>
                <a:latin typeface="Consolas"/>
              </a:rPr>
              <a:t>VL53L0X · MPU-6050</a:t>
            </a:r>
          </a:p>
          <a:p>
            <a:pPr algn="ctr"/>
            <a:r>
              <a:rPr sz="1300" b="0">
                <a:solidFill>
                  <a:srgbClr val="E8F4FD"/>
                </a:solidFill>
                <a:latin typeface="Consolas"/>
              </a:rPr>
              <a:t>GPS · Bumpers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566160"/>
            <a:ext cx="2377440" cy="1188720"/>
          </a:xfrm>
          <a:prstGeom prst="rect">
            <a:avLst/>
          </a:prstGeom>
          <a:solidFill>
            <a:srgbClr val="0F2040"/>
          </a:solidFill>
          <a:ln w="25400">
            <a:solidFill>
              <a:srgbClr val="7BA7CC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7BA7CC"/>
                </a:solidFill>
                <a:latin typeface="Consolas"/>
              </a:rPr>
              <a:t>PHONE DISPLAY</a:t>
            </a:r>
          </a:p>
          <a:p>
            <a:pPr algn="ctr"/>
            <a:r>
              <a:rPr sz="1300" b="0">
                <a:solidFill>
                  <a:srgbClr val="E8F4FD"/>
                </a:solidFill>
                <a:latin typeface="Consolas"/>
              </a:rPr>
              <a:t>Status · Battery</a:t>
            </a:r>
          </a:p>
          <a:p>
            <a:pPr algn="ctr"/>
            <a:r>
              <a:rPr sz="1300" b="0">
                <a:solidFill>
                  <a:srgbClr val="E8F4FD"/>
                </a:solidFill>
                <a:latin typeface="Consolas"/>
              </a:rPr>
              <a:t>Bumper state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834640" y="1965960"/>
            <a:ext cx="1920240" cy="0"/>
          </a:xfrm>
          <a:prstGeom prst="line">
            <a:avLst/>
          </a:prstGeom>
          <a:ln w="25400">
            <a:solidFill>
              <a:srgbClr val="00BC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589520" y="1965960"/>
            <a:ext cx="1188720" cy="0"/>
          </a:xfrm>
          <a:prstGeom prst="line">
            <a:avLst/>
          </a:prstGeom>
          <a:ln w="25400">
            <a:solidFill>
              <a:srgbClr val="FFD7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172200" y="2560320"/>
            <a:ext cx="0" cy="1005840"/>
          </a:xfrm>
          <a:prstGeom prst="line">
            <a:avLst/>
          </a:prstGeom>
          <a:ln w="25400">
            <a:solidFill>
              <a:srgbClr val="CE93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834640" y="4160520"/>
            <a:ext cx="1920240" cy="0"/>
          </a:xfrm>
          <a:prstGeom prst="line">
            <a:avLst/>
          </a:prstGeom>
          <a:ln w="25400">
            <a:solidFill>
              <a:srgbClr val="7BA7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74320" y="5029200"/>
            <a:ext cx="11612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7BA7CC"/>
                </a:solidFill>
                <a:latin typeface="Consolas"/>
              </a:rPr>
              <a:t>UDP port 4210 (D/K/C commands)  ·  UDP port 4211 (T telemetry)  ·  20Hz drive loop  ·  300ms watchdog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889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00BCD4"/>
                </a:solidFill>
                <a:latin typeface="Consolas"/>
              </a:rPr>
              <a:t>UDP CONTROL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02920"/>
            <a:ext cx="12188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7BA7CC"/>
                </a:solidFill>
                <a:latin typeface="Consolas"/>
              </a:rPr>
              <a:t>Text-based, stateless, sub-50ms latency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841248"/>
            <a:ext cx="11274552" cy="0"/>
          </a:xfrm>
          <a:prstGeom prst="line">
            <a:avLst/>
          </a:prstGeom>
          <a:ln w="19050">
            <a:solidFill>
              <a:srgbClr val="00BC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5760" y="1005840"/>
            <a:ext cx="5486400" cy="5029200"/>
          </a:xfrm>
          <a:prstGeom prst="rect">
            <a:avLst/>
          </a:prstGeom>
          <a:solidFill>
            <a:srgbClr val="0F2040"/>
          </a:solidFill>
          <a:ln w="12700">
            <a:solidFill>
              <a:srgbClr val="00BCD4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BCD4"/>
                </a:solidFill>
                <a:latin typeface="Consolas"/>
              </a:rPr>
              <a:t>Commands  (Phone → Car, port 4210)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E8F4FD"/>
                </a:solidFill>
                <a:latin typeface="Consolas"/>
              </a:rPr>
              <a:t>  • D,&lt;seq&gt;,&lt;throttle&gt;,&lt;steer&gt;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E8F4FD"/>
                </a:solidFill>
                <a:latin typeface="Consolas"/>
              </a:rPr>
              <a:t>  •   seq      — monotonic sequence number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E8F4FD"/>
                </a:solidFill>
                <a:latin typeface="Consolas"/>
              </a:rPr>
              <a:t>  •   throttle — -100..+100 (neg=reverse)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E8F4FD"/>
                </a:solidFill>
                <a:latin typeface="Consolas"/>
              </a:rPr>
              <a:t>  •   steer    — -100..+100 (neg=left)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E8F4FD"/>
                </a:solidFill>
                <a:latin typeface="Consolas"/>
              </a:rPr>
              <a:t>  • K  — KILL (immediate full stop)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E8F4FD"/>
                </a:solidFill>
                <a:latin typeface="Consolas"/>
              </a:rPr>
              <a:t>  • C  — CLEAR (release kill/bumper lock)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E8F4FD"/>
                </a:solidFill>
                <a:latin typeface="Consolas"/>
              </a:rPr>
              <a:t>  • Sent at 20 Hz by Timer.periodic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E8F4FD"/>
                </a:solidFill>
                <a:latin typeface="Consolas"/>
              </a:rPr>
              <a:t>  • Out-of-order packets dropped (seq)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005840"/>
            <a:ext cx="5394960" cy="5029200"/>
          </a:xfrm>
          <a:prstGeom prst="rect">
            <a:avLst/>
          </a:prstGeom>
          <a:solidFill>
            <a:srgbClr val="0F2040"/>
          </a:solidFill>
          <a:ln w="12700">
            <a:solidFill>
              <a:srgbClr val="00E676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E676"/>
                </a:solidFill>
                <a:latin typeface="Consolas"/>
              </a:rPr>
              <a:t>Telemetry  (Car → Phone, port 4211)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E8F4FD"/>
                </a:solidFill>
                <a:latin typeface="Consolas"/>
              </a:rPr>
              <a:t>  • T,&lt;seq&gt;,&lt;mask&gt;,&lt;mV&gt;,&lt;state&gt;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E8F4FD"/>
                </a:solidFill>
                <a:latin typeface="Consolas"/>
              </a:rPr>
              <a:t>  •   mask  — bumper bits L=1 C=2 R=4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E8F4FD"/>
                </a:solidFill>
                <a:latin typeface="Consolas"/>
              </a:rPr>
              <a:t>  •   mV    — battery millivolts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E8F4FD"/>
                </a:solidFill>
                <a:latin typeface="Consolas"/>
              </a:rPr>
              <a:t>  •   state — 0=OK 1=WD 2=BUMPER 3=KILL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E8F4FD"/>
                </a:solidFill>
                <a:latin typeface="Consolas"/>
              </a:rPr>
              <a:t>  • Sent every 100ms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E8F4FD"/>
                </a:solidFill>
                <a:latin typeface="Consolas"/>
              </a:rPr>
              <a:t>  • Dest: source IP of last D packet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E8F4FD"/>
                </a:solidFill>
                <a:latin typeface="Consolas"/>
              </a:rPr>
              <a:t>  • State machine: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E8F4FD"/>
                </a:solidFill>
                <a:latin typeface="Consolas"/>
              </a:rPr>
              <a:t>  •   OK → normal drive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E8F4FD"/>
                </a:solidFill>
                <a:latin typeface="Consolas"/>
              </a:rPr>
              <a:t>  •   WD → no packet &gt;300ms → stop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E8F4FD"/>
                </a:solidFill>
                <a:latin typeface="Consolas"/>
              </a:rPr>
              <a:t>  •   BUMPER → fwd blocked until reverse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E8F4FD"/>
                </a:solidFill>
                <a:latin typeface="Consolas"/>
              </a:rPr>
              <a:t>  •   KILL → full stop until CLEAR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889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00BCD4"/>
                </a:solidFill>
                <a:latin typeface="Consolas"/>
              </a:rPr>
              <a:t>ESP32 FIRMWARE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02920"/>
            <a:ext cx="12188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7BA7CC"/>
                </a:solidFill>
                <a:latin typeface="Consolas"/>
              </a:rPr>
              <a:t>visionpilot_esp32.ino · Arduino Core 3.x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841248"/>
            <a:ext cx="11274552" cy="0"/>
          </a:xfrm>
          <a:prstGeom prst="line">
            <a:avLst/>
          </a:prstGeom>
          <a:ln w="19050">
            <a:solidFill>
              <a:srgbClr val="00BC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5760" y="1005840"/>
            <a:ext cx="5303520" cy="2651760"/>
          </a:xfrm>
          <a:prstGeom prst="rect">
            <a:avLst/>
          </a:prstGeom>
          <a:solidFill>
            <a:srgbClr val="0F2040"/>
          </a:solidFill>
          <a:ln w="12700">
            <a:solidFill>
              <a:srgbClr val="00BCD4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BCD4"/>
                </a:solidFill>
                <a:latin typeface="Consolas"/>
              </a:rPr>
              <a:t>WiFi AP Mode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E8F4FD"/>
                </a:solidFill>
                <a:latin typeface="Consolas"/>
              </a:rPr>
              <a:t>  • ESP32 creates its OWN WiFi network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E8F4FD"/>
                </a:solidFill>
                <a:latin typeface="Consolas"/>
              </a:rPr>
              <a:t>  • SSID: VisionPilot  Pass: vp123456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E8F4FD"/>
                </a:solidFill>
                <a:latin typeface="Consolas"/>
              </a:rPr>
              <a:t>  • IP always 192.168.4.1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E8F4FD"/>
                </a:solidFill>
                <a:latin typeface="Consolas"/>
              </a:rPr>
              <a:t>  • Phone joins car's WiFi directly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E8F4FD"/>
                </a:solidFill>
                <a:latin typeface="Consolas"/>
              </a:rPr>
              <a:t>  • No router / hotspot needed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E8F4FD"/>
                </a:solidFill>
                <a:latin typeface="Consolas"/>
              </a:rPr>
              <a:t>  • ensureWifi(): returns udpStarted in 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749039"/>
            <a:ext cx="5303520" cy="2651760"/>
          </a:xfrm>
          <a:prstGeom prst="rect">
            <a:avLst/>
          </a:prstGeom>
          <a:solidFill>
            <a:srgbClr val="0F2040"/>
          </a:solidFill>
          <a:ln w="12700">
            <a:solidFill>
              <a:srgbClr val="FFD740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D740"/>
                </a:solidFill>
                <a:latin typeface="Consolas"/>
              </a:rPr>
              <a:t>Motor &amp; Servo PWM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E8F4FD"/>
                </a:solidFill>
                <a:latin typeface="Consolas"/>
              </a:rPr>
              <a:t>  • ledcAttachChannel() — Arduino 3.x API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E8F4FD"/>
                </a:solidFill>
                <a:latin typeface="Consolas"/>
              </a:rPr>
              <a:t>  • Motor: ch0 · 1kHz · 10-bit · GPIO25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E8F4FD"/>
                </a:solidFill>
                <a:latin typeface="Consolas"/>
              </a:rPr>
              <a:t>  • Servo: ch2 · 50Hz · 16-bit · GPIO13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E8F4FD"/>
                </a:solidFill>
                <a:latin typeface="Consolas"/>
              </a:rPr>
              <a:t>  • Speed map: 35%-100% duty range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E8F4FD"/>
                </a:solidFill>
                <a:latin typeface="Consolas"/>
              </a:rPr>
              <a:t>  • Direction: IN1/IN2 digital H-bridge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0" y="1005840"/>
            <a:ext cx="5760720" cy="2651760"/>
          </a:xfrm>
          <a:prstGeom prst="rect">
            <a:avLst/>
          </a:prstGeom>
          <a:solidFill>
            <a:srgbClr val="0F2040"/>
          </a:solidFill>
          <a:ln w="12700">
            <a:solidFill>
              <a:srgbClr val="FF5252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5252"/>
                </a:solidFill>
                <a:latin typeface="Consolas"/>
              </a:rPr>
              <a:t>Safety Interlocks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E8F4FD"/>
                </a:solidFill>
                <a:latin typeface="Consolas"/>
              </a:rPr>
              <a:t>  • Watchdog: no packet &gt;300ms → stop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E8F4FD"/>
                </a:solidFill>
                <a:latin typeface="Consolas"/>
              </a:rPr>
              <a:t>  • Bumper lock: hit → fwd disabled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E8F4FD"/>
                </a:solidFill>
                <a:latin typeface="Consolas"/>
              </a:rPr>
              <a:t>  •   Unlock: reverse off + C from phone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E8F4FD"/>
                </a:solidFill>
                <a:latin typeface="Consolas"/>
              </a:rPr>
              <a:t>  • Kill latch: K packet → full stop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E8F4FD"/>
                </a:solidFill>
                <a:latin typeface="Consolas"/>
              </a:rPr>
              <a:t>  • All states reported in telemetry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3749039"/>
            <a:ext cx="5760720" cy="2651760"/>
          </a:xfrm>
          <a:prstGeom prst="rect">
            <a:avLst/>
          </a:prstGeom>
          <a:solidFill>
            <a:srgbClr val="0F2040"/>
          </a:solidFill>
          <a:ln w="12700">
            <a:solidFill>
              <a:srgbClr val="CE93D8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E93D8"/>
                </a:solidFill>
                <a:latin typeface="Consolas"/>
              </a:rPr>
              <a:t>Sensor Reads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E8F4FD"/>
                </a:solidFill>
                <a:latin typeface="Consolas"/>
              </a:rPr>
              <a:t>  • Bumpers: digitalRead + PULLUP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E8F4FD"/>
                </a:solidFill>
                <a:latin typeface="Consolas"/>
              </a:rPr>
              <a:t>  • Battery: analogReadMilliVolts x3.128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E8F4FD"/>
                </a:solidFill>
                <a:latin typeface="Consolas"/>
              </a:rPr>
              <a:t>  • VL53L0X: I2C addr 0x29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E8F4FD"/>
                </a:solidFill>
                <a:latin typeface="Consolas"/>
              </a:rPr>
              <a:t>  • MPU-6050: I2C addr 0x68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E8F4FD"/>
                </a:solidFill>
                <a:latin typeface="Consolas"/>
              </a:rPr>
              <a:t>  • GPS: Serial2 9600 baud NMEA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889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00BCD4"/>
                </a:solidFill>
                <a:latin typeface="Consolas"/>
              </a:rPr>
              <a:t>ANDROID CONTROL APP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02920"/>
            <a:ext cx="12188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7BA7CC"/>
                </a:solidFill>
                <a:latin typeface="Consolas"/>
              </a:rPr>
              <a:t>Flutter · Dart · UDP · Dual Joystick · APK via ADB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841248"/>
            <a:ext cx="11274552" cy="0"/>
          </a:xfrm>
          <a:prstGeom prst="line">
            <a:avLst/>
          </a:prstGeom>
          <a:ln w="19050">
            <a:solidFill>
              <a:srgbClr val="00BC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5760" y="1005840"/>
            <a:ext cx="3657600" cy="5029200"/>
          </a:xfrm>
          <a:prstGeom prst="rect">
            <a:avLst/>
          </a:prstGeom>
          <a:solidFill>
            <a:srgbClr val="0F2040"/>
          </a:solidFill>
          <a:ln w="12700">
            <a:solidFill>
              <a:srgbClr val="00BCD4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CD4"/>
                </a:solidFill>
                <a:latin typeface="Consolas"/>
              </a:rPr>
              <a:t>car_socket.dart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E8F4FD"/>
                </a:solidFill>
                <a:latin typeface="Consolas"/>
              </a:rPr>
              <a:t>  • RawDatagramSocket (dart:io)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E8F4FD"/>
                </a:solidFill>
                <a:latin typeface="Consolas"/>
              </a:rPr>
              <a:t>  • Send to car 192.168.4.1:4210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E8F4FD"/>
                </a:solidFill>
                <a:latin typeface="Consolas"/>
              </a:rPr>
              <a:t>  • Listen port 4211 for telemetry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E8F4FD"/>
                </a:solidFill>
                <a:latin typeface="Consolas"/>
              </a:rPr>
              <a:t>  • Timer.periodic 20Hz drive loop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E8F4FD"/>
                </a:solidFill>
                <a:latin typeface="Consolas"/>
              </a:rPr>
              <a:t>  • sendDrive(throttle, steer)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E8F4FD"/>
                </a:solidFill>
                <a:latin typeface="Consolas"/>
              </a:rPr>
              <a:t>  • sendKill() / sendClear()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E8F4FD"/>
                </a:solidFill>
                <a:latin typeface="Consolas"/>
              </a:rPr>
              <a:t>  • Stream&lt;Telemetry&gt; broadcast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0" y="1005840"/>
            <a:ext cx="3657600" cy="5029200"/>
          </a:xfrm>
          <a:prstGeom prst="rect">
            <a:avLst/>
          </a:prstGeom>
          <a:solidFill>
            <a:srgbClr val="0F2040"/>
          </a:solidFill>
          <a:ln w="12700">
            <a:solidFill>
              <a:srgbClr val="00E676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E676"/>
                </a:solidFill>
                <a:latin typeface="Consolas"/>
              </a:rPr>
              <a:t>joystick_widget.dart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E8F4FD"/>
                </a:solidFill>
                <a:latin typeface="Consolas"/>
              </a:rPr>
              <a:t>  • GestureDetector + CustomPaint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E8F4FD"/>
                </a:solidFill>
                <a:latin typeface="Consolas"/>
              </a:rPr>
              <a:t>  • Bounded circular drag area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E8F4FD"/>
                </a:solidFill>
                <a:latin typeface="Consolas"/>
              </a:rPr>
              <a:t>  • 5% dead-zone at center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E8F4FD"/>
                </a:solidFill>
                <a:latin typeface="Consolas"/>
              </a:rPr>
              <a:t>  • Thumb snaps to center on release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E8F4FD"/>
                </a:solidFill>
                <a:latin typeface="Consolas"/>
              </a:rPr>
              <a:t>  • onChanged(dx, dy): -1.0..1.0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E8F4FD"/>
                </a:solidFill>
                <a:latin typeface="Consolas"/>
              </a:rPr>
              <a:t>  • Left Y-axis → throttle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E8F4FD"/>
                </a:solidFill>
                <a:latin typeface="Consolas"/>
              </a:rPr>
              <a:t>  • Right X-axis → steer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1005840"/>
            <a:ext cx="3657600" cy="5029200"/>
          </a:xfrm>
          <a:prstGeom prst="rect">
            <a:avLst/>
          </a:prstGeom>
          <a:solidFill>
            <a:srgbClr val="0F2040"/>
          </a:solidFill>
          <a:ln w="12700">
            <a:solidFill>
              <a:srgbClr val="FFD740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D740"/>
                </a:solidFill>
                <a:latin typeface="Consolas"/>
              </a:rPr>
              <a:t>Build &amp; Deploy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E8F4FD"/>
                </a:solidFill>
                <a:latin typeface="Consolas"/>
              </a:rPr>
              <a:t>  • Settings: IP + port persisted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E8F4FD"/>
                </a:solidFill>
                <a:latin typeface="Consolas"/>
              </a:rPr>
              <a:t>  • SharedPreferences storage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E8F4FD"/>
                </a:solidFill>
                <a:latin typeface="Consolas"/>
              </a:rPr>
              <a:t>  • flutter build apk --release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E8F4FD"/>
                </a:solidFill>
                <a:latin typeface="Consolas"/>
              </a:rPr>
              <a:t>  • adb install app-release.apk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E8F4FD"/>
                </a:solidFill>
                <a:latin typeface="Consolas"/>
              </a:rPr>
              <a:t>  • 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E8F4FD"/>
                </a:solidFill>
                <a:latin typeface="Consolas"/>
              </a:rPr>
              <a:t>  • Permissions: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E8F4FD"/>
                </a:solidFill>
                <a:latin typeface="Consolas"/>
              </a:rPr>
              <a:t>  •   INTERNET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E8F4FD"/>
                </a:solidFill>
                <a:latin typeface="Consolas"/>
              </a:rPr>
              <a:t>  •   ACCESS_WIFI_STATE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E8F4FD"/>
                </a:solidFill>
                <a:latin typeface="Consolas"/>
              </a:rPr>
              <a:t>  •   CHANGE_WIFI_MULTICAST_STATE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889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00BCD4"/>
                </a:solidFill>
                <a:latin typeface="Consolas"/>
              </a:rPr>
              <a:t>WIRING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02920"/>
            <a:ext cx="12188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7BA7CC"/>
                </a:solidFill>
                <a:latin typeface="Consolas"/>
              </a:rPr>
              <a:t>ESP32 GPIO pin assignments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841248"/>
            <a:ext cx="11274552" cy="0"/>
          </a:xfrm>
          <a:prstGeom prst="line">
            <a:avLst/>
          </a:prstGeom>
          <a:ln w="19050">
            <a:solidFill>
              <a:srgbClr val="00BC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74320" y="960120"/>
            <a:ext cx="1280160" cy="329184"/>
          </a:xfrm>
          <a:prstGeom prst="rect">
            <a:avLst/>
          </a:prstGeom>
          <a:solidFill>
            <a:srgbClr val="0F2040"/>
          </a:solidFill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BCD4"/>
                </a:solidFill>
                <a:latin typeface="Consolas"/>
              </a:rPr>
              <a:t>GPIO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960120"/>
            <a:ext cx="1828800" cy="329184"/>
          </a:xfrm>
          <a:prstGeom prst="rect">
            <a:avLst/>
          </a:prstGeom>
          <a:solidFill>
            <a:srgbClr val="0F2040"/>
          </a:solidFill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BCD4"/>
                </a:solidFill>
                <a:latin typeface="Consolas"/>
              </a:rPr>
              <a:t>Connected 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960120"/>
            <a:ext cx="1828800" cy="329184"/>
          </a:xfrm>
          <a:prstGeom prst="rect">
            <a:avLst/>
          </a:prstGeom>
          <a:solidFill>
            <a:srgbClr val="0F2040"/>
          </a:solidFill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BCD4"/>
                </a:solidFill>
                <a:latin typeface="Consolas"/>
              </a:rPr>
              <a:t>Signal 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80" y="960120"/>
            <a:ext cx="5943600" cy="329184"/>
          </a:xfrm>
          <a:prstGeom prst="rect">
            <a:avLst/>
          </a:prstGeom>
          <a:solidFill>
            <a:srgbClr val="0F2040"/>
          </a:solidFill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BCD4"/>
                </a:solidFill>
                <a:latin typeface="Consolas"/>
              </a:rPr>
              <a:t>Notes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325880"/>
            <a:ext cx="1280160" cy="338328"/>
          </a:xfrm>
          <a:prstGeom prst="rect">
            <a:avLst/>
          </a:prstGeom>
          <a:solidFill>
            <a:srgbClr val="0C1D35"/>
          </a:solidFill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D740"/>
                </a:solidFill>
                <a:latin typeface="Consolas"/>
              </a:rPr>
              <a:t>GPIO 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325880"/>
            <a:ext cx="1828800" cy="338328"/>
          </a:xfrm>
          <a:prstGeom prst="rect">
            <a:avLst/>
          </a:prstGeom>
          <a:solidFill>
            <a:srgbClr val="0C1D35"/>
          </a:solidFill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BCD4"/>
                </a:solidFill>
                <a:latin typeface="Consolas"/>
              </a:rPr>
              <a:t>L298N ENA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1325880"/>
            <a:ext cx="1828800" cy="338328"/>
          </a:xfrm>
          <a:prstGeom prst="rect">
            <a:avLst/>
          </a:prstGeom>
          <a:solidFill>
            <a:srgbClr val="0C1D35"/>
          </a:solidFill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E676"/>
                </a:solidFill>
                <a:latin typeface="Consolas"/>
              </a:rPr>
              <a:t>PWM 1kHz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1325880"/>
            <a:ext cx="5943600" cy="338328"/>
          </a:xfrm>
          <a:prstGeom prst="rect">
            <a:avLst/>
          </a:prstGeom>
          <a:solidFill>
            <a:srgbClr val="0C1D35"/>
          </a:solidFill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8F4FD"/>
                </a:solidFill>
                <a:latin typeface="Consolas"/>
              </a:rPr>
              <a:t>Motor speed (remove ENA jumper!)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1673352"/>
            <a:ext cx="1280160" cy="338328"/>
          </a:xfrm>
          <a:prstGeom prst="rect">
            <a:avLst/>
          </a:prstGeom>
          <a:solidFill>
            <a:srgbClr val="0F2040"/>
          </a:solidFill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D740"/>
                </a:solidFill>
                <a:latin typeface="Consolas"/>
              </a:rPr>
              <a:t>GPIO 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1673352"/>
            <a:ext cx="1828800" cy="338328"/>
          </a:xfrm>
          <a:prstGeom prst="rect">
            <a:avLst/>
          </a:prstGeom>
          <a:solidFill>
            <a:srgbClr val="0F2040"/>
          </a:solidFill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BCD4"/>
                </a:solidFill>
                <a:latin typeface="Consolas"/>
              </a:rPr>
              <a:t>L298N IN1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1673352"/>
            <a:ext cx="1828800" cy="338328"/>
          </a:xfrm>
          <a:prstGeom prst="rect">
            <a:avLst/>
          </a:prstGeom>
          <a:solidFill>
            <a:srgbClr val="0F2040"/>
          </a:solidFill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E676"/>
                </a:solidFill>
                <a:latin typeface="Consolas"/>
              </a:rPr>
              <a:t>Digital OUT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1673352"/>
            <a:ext cx="5943600" cy="338328"/>
          </a:xfrm>
          <a:prstGeom prst="rect">
            <a:avLst/>
          </a:prstGeom>
          <a:solidFill>
            <a:srgbClr val="0F2040"/>
          </a:solidFill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8F4FD"/>
                </a:solidFill>
                <a:latin typeface="Consolas"/>
              </a:rPr>
              <a:t>Motor direction 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2020824"/>
            <a:ext cx="1280160" cy="338328"/>
          </a:xfrm>
          <a:prstGeom prst="rect">
            <a:avLst/>
          </a:prstGeom>
          <a:solidFill>
            <a:srgbClr val="0C1D35"/>
          </a:solidFill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D740"/>
                </a:solidFill>
                <a:latin typeface="Consolas"/>
              </a:rPr>
              <a:t>GPIO 27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2020824"/>
            <a:ext cx="1828800" cy="338328"/>
          </a:xfrm>
          <a:prstGeom prst="rect">
            <a:avLst/>
          </a:prstGeom>
          <a:solidFill>
            <a:srgbClr val="0C1D35"/>
          </a:solidFill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BCD4"/>
                </a:solidFill>
                <a:latin typeface="Consolas"/>
              </a:rPr>
              <a:t>L298N IN2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2020824"/>
            <a:ext cx="1828800" cy="338328"/>
          </a:xfrm>
          <a:prstGeom prst="rect">
            <a:avLst/>
          </a:prstGeom>
          <a:solidFill>
            <a:srgbClr val="0C1D35"/>
          </a:solidFill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E676"/>
                </a:solidFill>
                <a:latin typeface="Consolas"/>
              </a:rPr>
              <a:t>Digital OUT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2020824"/>
            <a:ext cx="5943600" cy="338328"/>
          </a:xfrm>
          <a:prstGeom prst="rect">
            <a:avLst/>
          </a:prstGeom>
          <a:solidFill>
            <a:srgbClr val="0C1D35"/>
          </a:solidFill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8F4FD"/>
                </a:solidFill>
                <a:latin typeface="Consolas"/>
              </a:rPr>
              <a:t>Motor direction 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2368296"/>
            <a:ext cx="1280160" cy="338328"/>
          </a:xfrm>
          <a:prstGeom prst="rect">
            <a:avLst/>
          </a:prstGeom>
          <a:solidFill>
            <a:srgbClr val="0F2040"/>
          </a:solidFill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D740"/>
                </a:solidFill>
                <a:latin typeface="Consolas"/>
              </a:rPr>
              <a:t>GPIO 13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2368296"/>
            <a:ext cx="1828800" cy="338328"/>
          </a:xfrm>
          <a:prstGeom prst="rect">
            <a:avLst/>
          </a:prstGeom>
          <a:solidFill>
            <a:srgbClr val="0F2040"/>
          </a:solidFill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BCD4"/>
                </a:solidFill>
                <a:latin typeface="Consolas"/>
              </a:rPr>
              <a:t>Servo SIG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2368296"/>
            <a:ext cx="1828800" cy="338328"/>
          </a:xfrm>
          <a:prstGeom prst="rect">
            <a:avLst/>
          </a:prstGeom>
          <a:solidFill>
            <a:srgbClr val="0F2040"/>
          </a:solidFill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E676"/>
                </a:solidFill>
                <a:latin typeface="Consolas"/>
              </a:rPr>
              <a:t>PWM 50Hz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80" y="2368296"/>
            <a:ext cx="5943600" cy="338328"/>
          </a:xfrm>
          <a:prstGeom prst="rect">
            <a:avLst/>
          </a:prstGeom>
          <a:solidFill>
            <a:srgbClr val="0F2040"/>
          </a:solidFill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8F4FD"/>
                </a:solidFill>
                <a:latin typeface="Consolas"/>
              </a:rPr>
              <a:t>Steering 1100-1900µs center 1500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2715768"/>
            <a:ext cx="1280160" cy="338328"/>
          </a:xfrm>
          <a:prstGeom prst="rect">
            <a:avLst/>
          </a:prstGeom>
          <a:solidFill>
            <a:srgbClr val="0C1D35"/>
          </a:solidFill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D740"/>
                </a:solidFill>
                <a:latin typeface="Consolas"/>
              </a:rPr>
              <a:t>GPIO 32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2715768"/>
            <a:ext cx="1828800" cy="338328"/>
          </a:xfrm>
          <a:prstGeom prst="rect">
            <a:avLst/>
          </a:prstGeom>
          <a:solidFill>
            <a:srgbClr val="0C1D35"/>
          </a:solidFill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BCD4"/>
                </a:solidFill>
                <a:latin typeface="Consolas"/>
              </a:rPr>
              <a:t>Bumper LEFT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83280" y="2715768"/>
            <a:ext cx="1828800" cy="338328"/>
          </a:xfrm>
          <a:prstGeom prst="rect">
            <a:avLst/>
          </a:prstGeom>
          <a:solidFill>
            <a:srgbClr val="0C1D35"/>
          </a:solidFill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E676"/>
                </a:solidFill>
                <a:latin typeface="Consolas"/>
              </a:rPr>
              <a:t>INPUT_PULLUP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12080" y="2715768"/>
            <a:ext cx="5943600" cy="338328"/>
          </a:xfrm>
          <a:prstGeom prst="rect">
            <a:avLst/>
          </a:prstGeom>
          <a:solidFill>
            <a:srgbClr val="0C1D35"/>
          </a:solidFill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8F4FD"/>
                </a:solidFill>
                <a:latin typeface="Consolas"/>
              </a:rPr>
              <a:t>Active LOW when pressed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" y="3063239"/>
            <a:ext cx="1280160" cy="338328"/>
          </a:xfrm>
          <a:prstGeom prst="rect">
            <a:avLst/>
          </a:prstGeom>
          <a:solidFill>
            <a:srgbClr val="0F2040"/>
          </a:solidFill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D740"/>
                </a:solidFill>
                <a:latin typeface="Consolas"/>
              </a:rPr>
              <a:t>GPIO 33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54480" y="3063239"/>
            <a:ext cx="1828800" cy="338328"/>
          </a:xfrm>
          <a:prstGeom prst="rect">
            <a:avLst/>
          </a:prstGeom>
          <a:solidFill>
            <a:srgbClr val="0F2040"/>
          </a:solidFill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BCD4"/>
                </a:solidFill>
                <a:latin typeface="Consolas"/>
              </a:rPr>
              <a:t>Bumper CENTER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83280" y="3063239"/>
            <a:ext cx="1828800" cy="338328"/>
          </a:xfrm>
          <a:prstGeom prst="rect">
            <a:avLst/>
          </a:prstGeom>
          <a:solidFill>
            <a:srgbClr val="0F2040"/>
          </a:solidFill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E676"/>
                </a:solidFill>
                <a:latin typeface="Consolas"/>
              </a:rPr>
              <a:t>INPUT_PULLUP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80" y="3063239"/>
            <a:ext cx="5943600" cy="338328"/>
          </a:xfrm>
          <a:prstGeom prst="rect">
            <a:avLst/>
          </a:prstGeom>
          <a:solidFill>
            <a:srgbClr val="0F2040"/>
          </a:solidFill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8F4FD"/>
                </a:solidFill>
                <a:latin typeface="Consolas"/>
              </a:rPr>
              <a:t>Active LOW when pressed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" y="3410712"/>
            <a:ext cx="1280160" cy="338328"/>
          </a:xfrm>
          <a:prstGeom prst="rect">
            <a:avLst/>
          </a:prstGeom>
          <a:solidFill>
            <a:srgbClr val="0C1D35"/>
          </a:solidFill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D740"/>
                </a:solidFill>
                <a:latin typeface="Consolas"/>
              </a:rPr>
              <a:t>GPIO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54480" y="3410712"/>
            <a:ext cx="1828800" cy="338328"/>
          </a:xfrm>
          <a:prstGeom prst="rect">
            <a:avLst/>
          </a:prstGeom>
          <a:solidFill>
            <a:srgbClr val="0C1D35"/>
          </a:solidFill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BCD4"/>
                </a:solidFill>
                <a:latin typeface="Consolas"/>
              </a:rPr>
              <a:t>Bumper RIGHT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83280" y="3410712"/>
            <a:ext cx="1828800" cy="338328"/>
          </a:xfrm>
          <a:prstGeom prst="rect">
            <a:avLst/>
          </a:prstGeom>
          <a:solidFill>
            <a:srgbClr val="0C1D35"/>
          </a:solidFill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E676"/>
                </a:solidFill>
                <a:latin typeface="Consolas"/>
              </a:rPr>
              <a:t>INPUT_PULLUP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12080" y="3410712"/>
            <a:ext cx="5943600" cy="338328"/>
          </a:xfrm>
          <a:prstGeom prst="rect">
            <a:avLst/>
          </a:prstGeom>
          <a:solidFill>
            <a:srgbClr val="0C1D35"/>
          </a:solidFill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8F4FD"/>
                </a:solidFill>
                <a:latin typeface="Consolas"/>
              </a:rPr>
              <a:t>Active LOW when pressed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320" y="3758184"/>
            <a:ext cx="1280160" cy="338328"/>
          </a:xfrm>
          <a:prstGeom prst="rect">
            <a:avLst/>
          </a:prstGeom>
          <a:solidFill>
            <a:srgbClr val="0F2040"/>
          </a:solidFill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D740"/>
                </a:solidFill>
                <a:latin typeface="Consolas"/>
              </a:rPr>
              <a:t>GPIO 35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54480" y="3758184"/>
            <a:ext cx="1828800" cy="338328"/>
          </a:xfrm>
          <a:prstGeom prst="rect">
            <a:avLst/>
          </a:prstGeom>
          <a:solidFill>
            <a:srgbClr val="0F2040"/>
          </a:solidFill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BCD4"/>
                </a:solidFill>
                <a:latin typeface="Consolas"/>
              </a:rPr>
              <a:t>Battery ADC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83280" y="3758184"/>
            <a:ext cx="1828800" cy="338328"/>
          </a:xfrm>
          <a:prstGeom prst="rect">
            <a:avLst/>
          </a:prstGeom>
          <a:solidFill>
            <a:srgbClr val="0F2040"/>
          </a:solidFill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E676"/>
                </a:solidFill>
                <a:latin typeface="Consolas"/>
              </a:rPr>
              <a:t>ADC1_CH7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212080" y="3758184"/>
            <a:ext cx="5943600" cy="338328"/>
          </a:xfrm>
          <a:prstGeom prst="rect">
            <a:avLst/>
          </a:prstGeom>
          <a:solidFill>
            <a:srgbClr val="0F2040"/>
          </a:solidFill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8F4FD"/>
                </a:solidFill>
                <a:latin typeface="Consolas"/>
              </a:rPr>
              <a:t>100kΩ+47kΩ divider ×3.128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4320" y="4105656"/>
            <a:ext cx="1280160" cy="338328"/>
          </a:xfrm>
          <a:prstGeom prst="rect">
            <a:avLst/>
          </a:prstGeom>
          <a:solidFill>
            <a:srgbClr val="0C1D35"/>
          </a:solidFill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D740"/>
                </a:solidFill>
                <a:latin typeface="Consolas"/>
              </a:rPr>
              <a:t>GPIO 21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554480" y="4105656"/>
            <a:ext cx="1828800" cy="338328"/>
          </a:xfrm>
          <a:prstGeom prst="rect">
            <a:avLst/>
          </a:prstGeom>
          <a:solidFill>
            <a:srgbClr val="0C1D35"/>
          </a:solidFill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BCD4"/>
                </a:solidFill>
                <a:latin typeface="Consolas"/>
              </a:rPr>
              <a:t>SDA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83280" y="4105656"/>
            <a:ext cx="1828800" cy="338328"/>
          </a:xfrm>
          <a:prstGeom prst="rect">
            <a:avLst/>
          </a:prstGeom>
          <a:solidFill>
            <a:srgbClr val="0C1D35"/>
          </a:solidFill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E676"/>
                </a:solidFill>
                <a:latin typeface="Consolas"/>
              </a:rPr>
              <a:t>I²C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212080" y="4105656"/>
            <a:ext cx="5943600" cy="338328"/>
          </a:xfrm>
          <a:prstGeom prst="rect">
            <a:avLst/>
          </a:prstGeom>
          <a:solidFill>
            <a:srgbClr val="0C1D35"/>
          </a:solidFill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8F4FD"/>
                </a:solidFill>
                <a:latin typeface="Consolas"/>
              </a:rPr>
              <a:t>VL53L0X(0x29)+MPU-6050(0x68) shared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74320" y="4453128"/>
            <a:ext cx="1280160" cy="338328"/>
          </a:xfrm>
          <a:prstGeom prst="rect">
            <a:avLst/>
          </a:prstGeom>
          <a:solidFill>
            <a:srgbClr val="0F2040"/>
          </a:solidFill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D740"/>
                </a:solidFill>
                <a:latin typeface="Consolas"/>
              </a:rPr>
              <a:t>GPIO 22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554480" y="4453128"/>
            <a:ext cx="1828800" cy="338328"/>
          </a:xfrm>
          <a:prstGeom prst="rect">
            <a:avLst/>
          </a:prstGeom>
          <a:solidFill>
            <a:srgbClr val="0F2040"/>
          </a:solidFill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BCD4"/>
                </a:solidFill>
                <a:latin typeface="Consolas"/>
              </a:rPr>
              <a:t>SCL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383280" y="4453128"/>
            <a:ext cx="1828800" cy="338328"/>
          </a:xfrm>
          <a:prstGeom prst="rect">
            <a:avLst/>
          </a:prstGeom>
          <a:solidFill>
            <a:srgbClr val="0F2040"/>
          </a:solidFill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E676"/>
                </a:solidFill>
                <a:latin typeface="Consolas"/>
              </a:rPr>
              <a:t>I²C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212080" y="4453128"/>
            <a:ext cx="5943600" cy="338328"/>
          </a:xfrm>
          <a:prstGeom prst="rect">
            <a:avLst/>
          </a:prstGeom>
          <a:solidFill>
            <a:srgbClr val="0F2040"/>
          </a:solidFill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8F4FD"/>
                </a:solidFill>
                <a:latin typeface="Consolas"/>
              </a:rPr>
              <a:t>Shared I²C bus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74320" y="4800600"/>
            <a:ext cx="1280160" cy="338328"/>
          </a:xfrm>
          <a:prstGeom prst="rect">
            <a:avLst/>
          </a:prstGeom>
          <a:solidFill>
            <a:srgbClr val="0C1D35"/>
          </a:solidFill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D740"/>
                </a:solidFill>
                <a:latin typeface="Consolas"/>
              </a:rPr>
              <a:t>GPIO 16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554480" y="4800600"/>
            <a:ext cx="1828800" cy="338328"/>
          </a:xfrm>
          <a:prstGeom prst="rect">
            <a:avLst/>
          </a:prstGeom>
          <a:solidFill>
            <a:srgbClr val="0C1D35"/>
          </a:solidFill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BCD4"/>
                </a:solidFill>
                <a:latin typeface="Consolas"/>
              </a:rPr>
              <a:t>GPS TX→RX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80" y="4800600"/>
            <a:ext cx="1828800" cy="338328"/>
          </a:xfrm>
          <a:prstGeom prst="rect">
            <a:avLst/>
          </a:prstGeom>
          <a:solidFill>
            <a:srgbClr val="0C1D35"/>
          </a:solidFill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E676"/>
                </a:solidFill>
                <a:latin typeface="Consolas"/>
              </a:rPr>
              <a:t>UART2 RX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212080" y="4800600"/>
            <a:ext cx="5943600" cy="338328"/>
          </a:xfrm>
          <a:prstGeom prst="rect">
            <a:avLst/>
          </a:prstGeom>
          <a:solidFill>
            <a:srgbClr val="0C1D35"/>
          </a:solidFill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8F4FD"/>
                </a:solidFill>
                <a:latin typeface="Consolas"/>
              </a:rPr>
              <a:t>9600 baud NMEA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74320" y="5148072"/>
            <a:ext cx="1280160" cy="338328"/>
          </a:xfrm>
          <a:prstGeom prst="rect">
            <a:avLst/>
          </a:prstGeom>
          <a:solidFill>
            <a:srgbClr val="0F2040"/>
          </a:solidFill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D740"/>
                </a:solidFill>
                <a:latin typeface="Consolas"/>
              </a:rPr>
              <a:t>GPIO 17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554480" y="5148072"/>
            <a:ext cx="1828800" cy="338328"/>
          </a:xfrm>
          <a:prstGeom prst="rect">
            <a:avLst/>
          </a:prstGeom>
          <a:solidFill>
            <a:srgbClr val="0F2040"/>
          </a:solidFill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BCD4"/>
                </a:solidFill>
                <a:latin typeface="Consolas"/>
              </a:rPr>
              <a:t>GPS RX←TX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383280" y="5148072"/>
            <a:ext cx="1828800" cy="338328"/>
          </a:xfrm>
          <a:prstGeom prst="rect">
            <a:avLst/>
          </a:prstGeom>
          <a:solidFill>
            <a:srgbClr val="0F2040"/>
          </a:solidFill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E676"/>
                </a:solidFill>
                <a:latin typeface="Consolas"/>
              </a:rPr>
              <a:t>UART2 TX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212080" y="5148072"/>
            <a:ext cx="5943600" cy="338328"/>
          </a:xfrm>
          <a:prstGeom prst="rect">
            <a:avLst/>
          </a:prstGeom>
          <a:solidFill>
            <a:srgbClr val="0F2040"/>
          </a:solidFill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8F4FD"/>
                </a:solidFill>
                <a:latin typeface="Consolas"/>
              </a:rPr>
              <a:t>9600 baud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74320" y="5495544"/>
            <a:ext cx="1280160" cy="338328"/>
          </a:xfrm>
          <a:prstGeom prst="rect">
            <a:avLst/>
          </a:prstGeom>
          <a:solidFill>
            <a:srgbClr val="0C1D35"/>
          </a:solidFill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D740"/>
                </a:solidFill>
                <a:latin typeface="Consolas"/>
              </a:rPr>
              <a:t>GPIO  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554480" y="5495544"/>
            <a:ext cx="1828800" cy="338328"/>
          </a:xfrm>
          <a:prstGeom prst="rect">
            <a:avLst/>
          </a:prstGeom>
          <a:solidFill>
            <a:srgbClr val="0C1D35"/>
          </a:solidFill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BCD4"/>
                </a:solidFill>
                <a:latin typeface="Consolas"/>
              </a:rPr>
              <a:t>Built-in LED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383280" y="5495544"/>
            <a:ext cx="1828800" cy="338328"/>
          </a:xfrm>
          <a:prstGeom prst="rect">
            <a:avLst/>
          </a:prstGeom>
          <a:solidFill>
            <a:srgbClr val="0C1D35"/>
          </a:solidFill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E676"/>
                </a:solidFill>
                <a:latin typeface="Consolas"/>
              </a:rPr>
              <a:t>Digital OUT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80" y="5495544"/>
            <a:ext cx="5943600" cy="338328"/>
          </a:xfrm>
          <a:prstGeom prst="rect">
            <a:avLst/>
          </a:prstGeom>
          <a:solidFill>
            <a:srgbClr val="0C1D35"/>
          </a:solidFill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8F4FD"/>
                </a:solidFill>
                <a:latin typeface="Consolas"/>
              </a:rPr>
              <a:t>Solid=OK fast-blink=no link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889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00BCD4"/>
                </a:solidFill>
                <a:latin typeface="Consolas"/>
              </a:rPr>
              <a:t>DEMO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02920"/>
            <a:ext cx="12188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7BA7CC"/>
                </a:solidFill>
                <a:latin typeface="Consolas"/>
              </a:rPr>
              <a:t>What we built and tested successfully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841248"/>
            <a:ext cx="11274552" cy="0"/>
          </a:xfrm>
          <a:prstGeom prst="line">
            <a:avLst/>
          </a:prstGeom>
          <a:ln w="19050">
            <a:solidFill>
              <a:srgbClr val="00BC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5760" y="1005840"/>
            <a:ext cx="5303520" cy="5120640"/>
          </a:xfrm>
          <a:prstGeom prst="rect">
            <a:avLst/>
          </a:prstGeom>
          <a:solidFill>
            <a:srgbClr val="0F2040"/>
          </a:solidFill>
          <a:ln w="12700">
            <a:solidFill>
              <a:srgbClr val="00E676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E676"/>
                </a:solidFill>
                <a:latin typeface="Consolas"/>
              </a:rPr>
              <a:t>Successfully Demonstrated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E8F4FD"/>
                </a:solidFill>
                <a:latin typeface="Consolas"/>
              </a:rPr>
              <a:t>  • ESP32 flashed via arduino-cli (headless)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E8F4FD"/>
                </a:solidFill>
                <a:latin typeface="Consolas"/>
              </a:rPr>
              <a:t>  • WiFi AP 'VisionPilot' visible on phone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E8F4FD"/>
                </a:solidFill>
                <a:latin typeface="Consolas"/>
              </a:rPr>
              <a:t>  • Samsung S24 joined car's WiFi network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E8F4FD"/>
                </a:solidFill>
                <a:latin typeface="Consolas"/>
              </a:rPr>
              <a:t>  • Flutter APK installed via ADB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E8F4FD"/>
                </a:solidFill>
                <a:latin typeface="Consolas"/>
              </a:rPr>
              <a:t>  • App shows green 'OK' status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E8F4FD"/>
                </a:solidFill>
                <a:latin typeface="Consolas"/>
              </a:rPr>
              <a:t>  • Live battery voltage in app UI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E8F4FD"/>
                </a:solidFill>
                <a:latin typeface="Consolas"/>
              </a:rPr>
              <a:t>  • Left joystick → DC motor fwd/rev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E8F4FD"/>
                </a:solidFill>
                <a:latin typeface="Consolas"/>
              </a:rPr>
              <a:t>  • Right joystick → servo steering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E8F4FD"/>
                </a:solidFill>
                <a:latin typeface="Consolas"/>
              </a:rPr>
              <a:t>  • KILL button → immediate car stop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E8F4FD"/>
                </a:solidFill>
                <a:latin typeface="Consolas"/>
              </a:rPr>
              <a:t>  • CLEAR resumes normal drive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E8F4FD"/>
                </a:solidFill>
                <a:latin typeface="Consolas"/>
              </a:rPr>
              <a:t>  • Bumper interlock working correctly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E8F4FD"/>
                </a:solidFill>
                <a:latin typeface="Consolas"/>
              </a:rPr>
              <a:t>  • Watchdog stops car on app close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0" y="1005840"/>
            <a:ext cx="5760720" cy="2377440"/>
          </a:xfrm>
          <a:prstGeom prst="rect">
            <a:avLst/>
          </a:prstGeom>
          <a:solidFill>
            <a:srgbClr val="0F2040"/>
          </a:solidFill>
          <a:ln w="12700">
            <a:solidFill>
              <a:srgbClr val="FF5252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5252"/>
                </a:solidFill>
                <a:latin typeface="Consolas"/>
              </a:rPr>
              <a:t>Critical Bug Fixed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E8F4FD"/>
                </a:solidFill>
                <a:latin typeface="Consolas"/>
              </a:rPr>
              <a:t>  • AP mode: WiFi.status() never returns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E8F4FD"/>
                </a:solidFill>
                <a:latin typeface="Consolas"/>
              </a:rPr>
              <a:t>  • WL_CONNECTED (ESP32 IS the AP)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E8F4FD"/>
                </a:solidFill>
                <a:latin typeface="Consolas"/>
              </a:rPr>
              <a:t>  • ensureWifi() always returned false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E8F4FD"/>
                </a:solidFill>
                <a:latin typeface="Consolas"/>
              </a:rPr>
              <a:t>  • Fix: #if USE_AP_MODE return udpStarted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E8F4FD"/>
                </a:solidFill>
                <a:latin typeface="Consolas"/>
              </a:rPr>
              <a:t>  • After reflash: app showed OK instantly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0" y="3566160"/>
            <a:ext cx="5760720" cy="2377440"/>
          </a:xfrm>
          <a:prstGeom prst="rect">
            <a:avLst/>
          </a:prstGeom>
          <a:solidFill>
            <a:srgbClr val="0F2040"/>
          </a:solidFill>
          <a:ln w="12700">
            <a:solidFill>
              <a:srgbClr val="FFD740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D740"/>
                </a:solidFill>
                <a:latin typeface="Consolas"/>
              </a:rPr>
              <a:t>Build Challenges Solved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E8F4FD"/>
                </a:solidFill>
                <a:latin typeface="Consolas"/>
              </a:rPr>
              <a:t>  • USE_AP_MODE (SDK enum conflict fix)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E8F4FD"/>
                </a:solidFill>
                <a:latin typeface="Consolas"/>
              </a:rPr>
              <a:t>  • ESP32 bootloader: manual BOOT+EN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E8F4FD"/>
                </a:solidFill>
                <a:latin typeface="Consolas"/>
              </a:rPr>
              <a:t>  • Flash baud 921600→115200 for stability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E8F4FD"/>
                </a:solidFill>
                <a:latin typeface="Consolas"/>
              </a:rPr>
              <a:t>  • ADB sideload without manual transfer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889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00BCD4"/>
                </a:solidFill>
                <a:latin typeface="Consolas"/>
              </a:rP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02920"/>
            <a:ext cx="12188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7BA7CC"/>
                </a:solidFill>
                <a:latin typeface="Consolas"/>
              </a:rPr>
              <a:t>Future development roadmap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841248"/>
            <a:ext cx="11274552" cy="0"/>
          </a:xfrm>
          <a:prstGeom prst="line">
            <a:avLst/>
          </a:prstGeom>
          <a:ln w="19050">
            <a:solidFill>
              <a:srgbClr val="00BC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5760" y="1005840"/>
            <a:ext cx="3657600" cy="5029200"/>
          </a:xfrm>
          <a:prstGeom prst="rect">
            <a:avLst/>
          </a:prstGeom>
          <a:solidFill>
            <a:srgbClr val="0F2040"/>
          </a:solidFill>
          <a:ln w="12700">
            <a:solidFill>
              <a:srgbClr val="00BCD4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BCD4"/>
                </a:solidFill>
                <a:latin typeface="Consolas"/>
              </a:rPr>
              <a:t>App Enhancements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E8F4FD"/>
                </a:solidFill>
                <a:latin typeface="Consolas"/>
              </a:rPr>
              <a:t>  • Integrate into main codebase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E8F4FD"/>
                </a:solidFill>
                <a:latin typeface="Consolas"/>
              </a:rPr>
              <a:t>  • OTA firmware update from app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E8F4FD"/>
                </a:solidFill>
                <a:latin typeface="Consolas"/>
              </a:rPr>
              <a:t>  • GPS live map on phone screen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E8F4FD"/>
                </a:solidFill>
                <a:latin typeface="Consolas"/>
              </a:rPr>
              <a:t>  • Record and replay drive paths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E8F4FD"/>
                </a:solidFill>
                <a:latin typeface="Consolas"/>
              </a:rPr>
              <a:t>  • Autonomous follow mode UI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E8F4FD"/>
                </a:solidFill>
                <a:latin typeface="Consolas"/>
              </a:rPr>
              <a:t>  • Obstacle avoidance overlay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0" y="1005840"/>
            <a:ext cx="3657600" cy="5029200"/>
          </a:xfrm>
          <a:prstGeom prst="rect">
            <a:avLst/>
          </a:prstGeom>
          <a:solidFill>
            <a:srgbClr val="0F2040"/>
          </a:solidFill>
          <a:ln w="12700">
            <a:solidFill>
              <a:srgbClr val="00E676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E676"/>
                </a:solidFill>
                <a:latin typeface="Consolas"/>
              </a:rPr>
              <a:t>Firmware Features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E8F4FD"/>
                </a:solidFill>
                <a:latin typeface="Consolas"/>
              </a:rPr>
              <a:t>  • VL53L0X obstacle avoidance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E8F4FD"/>
                </a:solidFill>
                <a:latin typeface="Consolas"/>
              </a:rPr>
              <a:t>  • MPU-6050 traction/stability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E8F4FD"/>
                </a:solidFill>
                <a:latin typeface="Consolas"/>
              </a:rPr>
              <a:t>  • GPS waypoint following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E8F4FD"/>
                </a:solidFill>
                <a:latin typeface="Consolas"/>
              </a:rPr>
              <a:t>  • PID speed controller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E8F4FD"/>
                </a:solidFill>
                <a:latin typeface="Consolas"/>
              </a:rPr>
              <a:t>  • Explore and replay brain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E8F4FD"/>
                </a:solidFill>
                <a:latin typeface="Consolas"/>
              </a:rPr>
              <a:t>  • ESP32-CAM video stream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1005840"/>
            <a:ext cx="3657600" cy="5029200"/>
          </a:xfrm>
          <a:prstGeom prst="rect">
            <a:avLst/>
          </a:prstGeom>
          <a:solidFill>
            <a:srgbClr val="0F2040"/>
          </a:solidFill>
          <a:ln w="12700">
            <a:solidFill>
              <a:srgbClr val="FFD740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D740"/>
                </a:solidFill>
                <a:latin typeface="Consolas"/>
              </a:rPr>
              <a:t>Infrastructure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E8F4FD"/>
                </a:solidFill>
                <a:latin typeface="Consolas"/>
              </a:rPr>
              <a:t>  • Custom PCB for clean wiring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E8F4FD"/>
                </a:solidFill>
                <a:latin typeface="Consolas"/>
              </a:rPr>
              <a:t>  • 3D printed sensor mounts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E8F4FD"/>
                </a:solidFill>
                <a:latin typeface="Consolas"/>
              </a:rPr>
              <a:t>  • LiPo charge indicator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E8F4FD"/>
                </a:solidFill>
                <a:latin typeface="Consolas"/>
              </a:rPr>
              <a:t>  • GitHub Actions CI build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E8F4FD"/>
                </a:solidFill>
                <a:latin typeface="Consolas"/>
              </a:rPr>
              <a:t>  • Unit tests for state machine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E8F4FD"/>
                </a:solidFill>
                <a:latin typeface="Consolas"/>
              </a:rPr>
              <a:t>  • Docker dev environment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280160"/>
            <a:ext cx="1218895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0" b="1">
                <a:solidFill>
                  <a:srgbClr val="00BCD4"/>
                </a:solidFill>
                <a:latin typeface="Consolas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2697480"/>
            <a:ext cx="121889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E8F4FD"/>
                </a:solidFill>
                <a:latin typeface="Consolas"/>
              </a:rPr>
              <a:t>VisionPilot — Built at HackTheHardware 2.0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42900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7BA7CC"/>
                </a:solidFill>
                <a:latin typeface="Consolas"/>
              </a:rPr>
              <a:t>ESP32  ·  Flutter  ·  UDP  ·  L298N  ·  Servo  ·  VL53L0X  ·  MPU-6050  ·  GPS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02336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00E676"/>
                </a:solidFill>
                <a:latin typeface="Consolas"/>
              </a:rP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